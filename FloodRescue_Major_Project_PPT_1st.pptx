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310896"/>
            <a:ext cx="1064927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310896"/>
            <a:ext cx="10058400" cy="1188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F4E79"/>
                </a:solidFill>
                <a:latin typeface="Century Gothic"/>
              </a:rPr>
              <a:t>Shri Ramdeobaba College of Engineering and Management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Century Gothic"/>
              </a:rPr>
              <a:t>Department of Computer Science &amp; Engineering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Century Gothic"/>
              </a:rPr>
              <a:t>Session 2026–2027   |   Semester VII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62895" cy="4114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1F4E79"/>
                </a:solidFill>
                <a:latin typeface="Century Gothic"/>
              </a:rPr>
              <a:t>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95728"/>
            <a:ext cx="11201400" cy="17830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54823C"/>
                </a:solidFill>
                <a:latin typeface="Century Gothic"/>
              </a:rPr>
              <a:t>MEMORY-AUGMENTED TEMPORAL REASONING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54823C"/>
                </a:solidFill>
                <a:latin typeface="Century Gothic"/>
              </a:rPr>
              <a:t>FOR FLOOD VICTIM DETECTION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D980D"/>
                </a:solidFill>
                <a:latin typeface="Century Gothic"/>
              </a:rPr>
              <a:t>Dynamic Rescue-Priority Mapping from Drone Imagery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4206240" cy="1188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Guided By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Dr. Nisarg Gandhewar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(Associate Professor)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4846320"/>
            <a:ext cx="4846320" cy="1691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Presented By :  Group No 7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     Prem Baba (53)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     Purva Bhoyar (57)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     Adhishree Shiledar (01)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     Palak Zade (68)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6032"/>
            <a:ext cx="11277295" cy="6858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34F03"/>
                </a:solidFill>
                <a:latin typeface="Century Gothic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3566160" cy="384048"/>
          </a:xfrm>
          <a:prstGeom prst="rect">
            <a:avLst/>
          </a:prstGeom>
          <a:solidFill>
            <a:srgbClr val="7D9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entury Gothic"/>
              </a:rPr>
              <a:t>The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27632"/>
            <a:ext cx="3474720" cy="33886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b="0" dirty="0">
                <a:solidFill>
                  <a:srgbClr val="1A1A1A"/>
                </a:solidFill>
                <a:latin typeface="Calibri"/>
              </a:rPr>
              <a:t>Floods are among the most frequent and devastating natural disasters, affecting billions of people and causing large-scale loss of life every year.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b="0" dirty="0">
                <a:solidFill>
                  <a:srgbClr val="1A1A1A"/>
                </a:solidFill>
                <a:latin typeface="Calibri"/>
              </a:rPr>
              <a:t>UAVs have become essential to disaster response — they survey inaccessible, submerged regions from above within minutes.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b="0" dirty="0">
                <a:solidFill>
                  <a:srgbClr val="1A1A1A"/>
                </a:solidFill>
                <a:latin typeface="Calibri"/>
              </a:rPr>
              <a:t>Public aerial datasets —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VisDrone</a:t>
            </a:r>
            <a:r>
              <a:rPr b="0" dirty="0">
                <a:solidFill>
                  <a:srgbClr val="1A1A1A"/>
                </a:solidFill>
                <a:latin typeface="Calibri"/>
              </a:rPr>
              <a:t>,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FloodNet</a:t>
            </a:r>
            <a:r>
              <a:rPr b="0" dirty="0">
                <a:solidFill>
                  <a:srgbClr val="1A1A1A"/>
                </a:solidFill>
                <a:latin typeface="Calibri"/>
              </a:rPr>
              <a:t>, C2A — now make drone-based rescue AI genuinely trainable.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078992"/>
            <a:ext cx="3566160" cy="384048"/>
          </a:xfrm>
          <a:prstGeom prst="rect">
            <a:avLst/>
          </a:prstGeom>
          <a:solidFill>
            <a:srgbClr val="7D9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entury Gothic"/>
              </a:rPr>
              <a:t>The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9976" y="1627632"/>
            <a:ext cx="3474720" cy="403033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b="0" dirty="0">
                <a:solidFill>
                  <a:srgbClr val="1A1A1A"/>
                </a:solidFill>
                <a:latin typeface="Calibri"/>
              </a:rPr>
              <a:t>Roads submerge and currents turn deadly — large flood-hit areas become physically unreachable on the ground.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b="0" dirty="0">
                <a:solidFill>
                  <a:srgbClr val="1A1A1A"/>
                </a:solidFill>
                <a:latin typeface="Calibri"/>
              </a:rPr>
              <a:t>Responders lack real-time information on how many people are stranded and exactly where.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b="0" dirty="0">
                <a:solidFill>
                  <a:srgbClr val="1A1A1A"/>
                </a:solidFill>
                <a:latin typeface="Calibri"/>
              </a:rPr>
              <a:t>From drone altitude victims are tiny and partly occluded — standard detectors frequently miss them.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b="0" dirty="0">
                <a:solidFill>
                  <a:srgbClr val="1A1A1A"/>
                </a:solidFill>
                <a:latin typeface="Calibri"/>
              </a:rPr>
              <a:t>Existing UAV systems do one task in isolation and describe only the present moment — no memory, no ranking.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01583" y="1078992"/>
            <a:ext cx="3566160" cy="384048"/>
          </a:xfrm>
          <a:prstGeom prst="rect">
            <a:avLst/>
          </a:prstGeom>
          <a:solidFill>
            <a:srgbClr val="7D9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entury Gothic"/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47304" y="1627632"/>
            <a:ext cx="3474720" cy="43576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b="1" i="0" dirty="0">
                <a:solidFill>
                  <a:srgbClr val="034F03"/>
                </a:solidFill>
                <a:latin typeface="Calibri"/>
              </a:rPr>
              <a:t>An integrated, temporally-aware drone pipeline that:</a:t>
            </a:r>
            <a:r>
              <a:rPr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b="0" dirty="0">
                <a:solidFill>
                  <a:srgbClr val="1A1A1A"/>
                </a:solidFill>
                <a:latin typeface="Calibri"/>
              </a:rPr>
              <a:t>Detects stranded people, vehicles and animals — including tiny and occluded targets.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b="0" dirty="0">
                <a:solidFill>
                  <a:srgbClr val="1A1A1A"/>
                </a:solidFill>
                <a:latin typeface="Calibri"/>
              </a:rPr>
              <a:t>Tracks every victim across frames with a stable identity.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b="0" dirty="0">
                <a:solidFill>
                  <a:srgbClr val="1A1A1A"/>
                </a:solidFill>
                <a:latin typeface="Calibri"/>
              </a:rPr>
              <a:t>Remembers each victim’s evolving state — time stranded, movement, trend.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b="0" dirty="0">
                <a:solidFill>
                  <a:srgbClr val="1A1A1A"/>
                </a:solidFill>
                <a:latin typeface="Calibri"/>
              </a:rPr>
              <a:t>Assesses flood severity around each victim group.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b="0" dirty="0">
                <a:solidFill>
                  <a:srgbClr val="1A1A1A"/>
                </a:solidFill>
                <a:latin typeface="Calibri"/>
              </a:rPr>
              <a:t>Fuses everything into a ranked rescue-priority map — who to save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11277295" cy="6858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34F03"/>
                </a:solidFill>
                <a:latin typeface="Century Gothic"/>
              </a:rP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86384"/>
            <a:ext cx="10362895" cy="3200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1A1A1A"/>
                </a:solidFill>
                <a:latin typeface="Calibri"/>
              </a:rPr>
              <a:t>The Core Issue: Perception Without 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362895" cy="38404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D5728"/>
                </a:solidFill>
                <a:latin typeface="Century Gothic"/>
              </a:rPr>
              <a:t>SPECIFIC CHALLENGES IN UAV FLOOD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55648"/>
            <a:ext cx="5504688" cy="1389888"/>
          </a:xfrm>
          <a:prstGeom prst="roundRect">
            <a:avLst>
              <a:gd name="adj" fmla="val 6000"/>
            </a:avLst>
          </a:prstGeom>
          <a:solidFill>
            <a:srgbClr val="CFE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64592" bIns="54864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4D5728"/>
                </a:solidFill>
                <a:latin typeface="Century Gothic"/>
              </a:rPr>
              <a:t>Tiny &amp; Occluded Victim Loss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1A1A1A"/>
                </a:solidFill>
                <a:latin typeface="Calibri"/>
              </a:rPr>
              <a:t>At 80–120 m altitude a person spans only a few pixels and is often hidden by roofs, trees or debris — standard detectors miss them, and one missed detection can cost a life.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3" y="1755648"/>
            <a:ext cx="5504688" cy="1389888"/>
          </a:xfrm>
          <a:prstGeom prst="roundRect">
            <a:avLst>
              <a:gd name="adj" fmla="val 6000"/>
            </a:avLst>
          </a:prstGeom>
          <a:solidFill>
            <a:srgbClr val="CFE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64592" bIns="54864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4D5728"/>
                </a:solidFill>
                <a:latin typeface="Century Gothic"/>
              </a:rPr>
              <a:t>No Temporal Awareness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1A1A1A"/>
                </a:solidFill>
                <a:latin typeface="Calibri"/>
              </a:rPr>
              <a:t>Systems reason on single frames. They cannot tell how long a victim has been stranded, whether the group is moving, or whether the water around it is rising.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328415"/>
            <a:ext cx="5504688" cy="1389888"/>
          </a:xfrm>
          <a:prstGeom prst="roundRect">
            <a:avLst>
              <a:gd name="adj" fmla="val 6000"/>
            </a:avLst>
          </a:prstGeom>
          <a:solidFill>
            <a:srgbClr val="CFE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64592" bIns="54864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4D5728"/>
                </a:solidFill>
                <a:latin typeface="Century Gothic"/>
              </a:rPr>
              <a:t>Severity-Blind Detection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1A1A1A"/>
                </a:solidFill>
                <a:latin typeface="Calibri"/>
              </a:rPr>
              <a:t>Victim detection and flood-water segmentation are run as separate studies, so how dangerous a victim’s surroundings actually are never influences the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3" y="3328415"/>
            <a:ext cx="5504688" cy="1389888"/>
          </a:xfrm>
          <a:prstGeom prst="roundRect">
            <a:avLst>
              <a:gd name="adj" fmla="val 6000"/>
            </a:avLst>
          </a:prstGeom>
          <a:solidFill>
            <a:srgbClr val="CFE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64592" bIns="54864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4D5728"/>
                </a:solidFill>
                <a:latin typeface="Century Gothic"/>
              </a:rPr>
              <a:t>No Actionable Output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1A1A1A"/>
                </a:solidFill>
                <a:latin typeface="Calibri"/>
              </a:rPr>
              <a:t>Output stops at bounding boxes, masks or counts. Teams are left to decide manually which of dozens of scattered locations to reach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956048"/>
            <a:ext cx="11055096" cy="1481328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7D98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54864" rIns="274320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34F03"/>
                </a:solidFill>
                <a:latin typeface="Century Gothic"/>
              </a:rPr>
              <a:t>Problem Statement:  </a:t>
            </a:r>
            <a:r>
              <a:rPr sz="1300" b="0">
                <a:solidFill>
                  <a:srgbClr val="1A1A1A"/>
                </a:solidFill>
                <a:latin typeface="Calibri"/>
              </a:rPr>
              <a:t>Existing UAV flood-response solutions largely stop at single-frame detection or segmentation and do not give rescue teams a temporally-informed, prioritized decision output. There is a need for a system that detects stranded victims — including small and occluded targets — from drone imagery, tracks them across time, remembers how their situation is changing, incorporates flood severity, and produces an interpretable dynamic rescue-priority map that guides responders to the highest-risk victims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37744"/>
            <a:ext cx="11277295" cy="6858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34F03"/>
                </a:solidFill>
                <a:latin typeface="Century Gothic"/>
              </a:rPr>
              <a:t>Aim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932688"/>
            <a:ext cx="11055096" cy="1298448"/>
          </a:xfrm>
          <a:prstGeom prst="roundRect">
            <a:avLst>
              <a:gd name="adj" fmla="val 6000"/>
            </a:avLst>
          </a:prstGeom>
          <a:solidFill>
            <a:srgbClr val="E0E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54864" rIns="292608" bIns="54864" rtlCol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A1A1A"/>
                </a:solidFill>
                <a:latin typeface="Calibri"/>
              </a:rPr>
              <a:t>To develop a drone-based system that detects, tracks and remembers stranded flood victims (humans, vehicles and animals), fuses flood-severity information from aerial imagery, and generates a dynamic rescue-priority map that guides rescue teams to the most critical locations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432304"/>
            <a:ext cx="5486400" cy="5029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34F03"/>
                </a:solidFill>
                <a:latin typeface="Century Gothic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035808"/>
            <a:ext cx="10881360" cy="35661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4D5728"/>
                </a:solidFill>
                <a:latin typeface="Calibri"/>
              </a:rPr>
              <a:t>•  Aerial victim detection</a:t>
            </a:r>
            <a:r>
              <a:rPr sz="1350" b="0">
                <a:solidFill>
                  <a:srgbClr val="1A1A1A"/>
                </a:solidFill>
                <a:latin typeface="Calibri"/>
              </a:rPr>
              <a:t> — build a detector for stranded humans, vehicles and animals, with dedicated handling of tiny and partially-occluded targets using slicing-aided inference (SAHI).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4D5728"/>
                </a:solidFill>
                <a:latin typeface="Calibri"/>
              </a:rPr>
              <a:t>•  Flood-domain adaptation</a:t>
            </a:r>
            <a:r>
              <a:rPr sz="1350" b="0">
                <a:solidFill>
                  <a:srgbClr val="1A1A1A"/>
                </a:solidFill>
                <a:latin typeface="Calibri"/>
              </a:rPr>
              <a:t> — adapt a general aerial detector to flood conditions through two-stage training — pre-training on VisDrone, then fine-tuning on flood-specific imagery.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4D5728"/>
                </a:solidFill>
                <a:latin typeface="Calibri"/>
              </a:rPr>
              <a:t>•  Tracking with memory</a:t>
            </a:r>
            <a:r>
              <a:rPr sz="1350" b="0">
                <a:solidFill>
                  <a:srgbClr val="1A1A1A"/>
                </a:solidFill>
                <a:latin typeface="Calibri"/>
              </a:rPr>
              <a:t> — track detected victims across frames and maintain a short-term memory of each victim’s evolving state — time stranded, movement and trend.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4D5728"/>
                </a:solidFill>
                <a:latin typeface="Calibri"/>
              </a:rPr>
              <a:t>•  Severity integration</a:t>
            </a:r>
            <a:r>
              <a:rPr sz="1350" b="0">
                <a:solidFill>
                  <a:srgbClr val="1A1A1A"/>
                </a:solidFill>
                <a:latin typeface="Calibri"/>
              </a:rPr>
              <a:t> — integrate flood-severity segmentation so that victims located in more severely flooded areas are prioritized appropriately.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4D5728"/>
                </a:solidFill>
                <a:latin typeface="Calibri"/>
              </a:rPr>
              <a:t>•  Priority mapping</a:t>
            </a:r>
            <a:r>
              <a:rPr sz="1350" b="0">
                <a:solidFill>
                  <a:srgbClr val="1A1A1A"/>
                </a:solidFill>
                <a:latin typeface="Calibri"/>
              </a:rPr>
              <a:t> — compute a rescue-priority score per location and generate a dynamic rescue-priority map together with a victim summary table and alerts.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4D5728"/>
                </a:solidFill>
                <a:latin typeface="Calibri"/>
              </a:rPr>
              <a:t>•  Rigorous evaluation</a:t>
            </a:r>
            <a:r>
              <a:rPr sz="1350" b="0">
                <a:solidFill>
                  <a:srgbClr val="1A1A1A"/>
                </a:solidFill>
                <a:latin typeface="Calibri"/>
              </a:rPr>
              <a:t> — evaluate the system against baseline detectors and through ablation studies that measure each module’s individual contribution.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19456"/>
            <a:ext cx="11155680" cy="41549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 dirty="0">
                <a:solidFill>
                  <a:srgbClr val="034F03"/>
                </a:solidFill>
                <a:latin typeface="Century Gothic"/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146012"/>
              </p:ext>
            </p:extLst>
          </p:nvPr>
        </p:nvGraphicFramePr>
        <p:xfrm>
          <a:off x="384048" y="868679"/>
          <a:ext cx="11055096" cy="542396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158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Research Area</a:t>
                      </a:r>
                    </a:p>
                  </a:txBody>
                  <a:tcPr marL="64008" marR="64008" marT="36576" marB="36576" anchor="ctr">
                    <a:lnL w="15875" cap="flat" cmpd="sng" algn="ctr">
                      <a:solidFill>
                        <a:srgbClr val="2A2F16"/>
                      </a:solidFill>
                    </a:lnL>
                    <a:lnR w="15875" cap="flat" cmpd="sng" algn="ctr">
                      <a:solidFill>
                        <a:srgbClr val="2A2F16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</a:lnT>
                    <a:lnB w="15875" cap="flat" cmpd="sng" algn="ctr">
                      <a:solidFill>
                        <a:srgbClr val="2A2F16"/>
                      </a:solidFill>
                    </a:lnB>
                    <a:solidFill>
                      <a:srgbClr val="4D57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Key Work</a:t>
                      </a:r>
                    </a:p>
                  </a:txBody>
                  <a:tcPr marL="64008" marR="64008" marT="36576" marB="36576" anchor="ctr">
                    <a:lnL w="15875" cap="flat" cmpd="sng" algn="ctr">
                      <a:solidFill>
                        <a:srgbClr val="2A2F16"/>
                      </a:solidFill>
                    </a:lnL>
                    <a:lnR w="15875" cap="flat" cmpd="sng" algn="ctr">
                      <a:solidFill>
                        <a:srgbClr val="2A2F16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</a:lnT>
                    <a:lnB w="15875" cap="flat" cmpd="sng" algn="ctr">
                      <a:solidFill>
                        <a:srgbClr val="2A2F16"/>
                      </a:solidFill>
                    </a:lnB>
                    <a:solidFill>
                      <a:srgbClr val="4D57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Findings</a:t>
                      </a:r>
                    </a:p>
                  </a:txBody>
                  <a:tcPr marL="64008" marR="64008" marT="36576" marB="36576" anchor="ctr">
                    <a:lnL w="15875" cap="flat" cmpd="sng" algn="ctr">
                      <a:solidFill>
                        <a:srgbClr val="2A2F16"/>
                      </a:solidFill>
                    </a:lnL>
                    <a:lnR w="15875" cap="flat" cmpd="sng" algn="ctr">
                      <a:solidFill>
                        <a:srgbClr val="2A2F16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</a:lnT>
                    <a:lnB w="15875" cap="flat" cmpd="sng" algn="ctr">
                      <a:solidFill>
                        <a:srgbClr val="2A2F16"/>
                      </a:solidFill>
                    </a:lnB>
                    <a:solidFill>
                      <a:srgbClr val="4D57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Limitation / Gap</a:t>
                      </a:r>
                    </a:p>
                  </a:txBody>
                  <a:tcPr marL="64008" marR="64008" marT="36576" marB="36576" anchor="ctr">
                    <a:lnL w="15875" cap="flat" cmpd="sng" algn="ctr">
                      <a:solidFill>
                        <a:srgbClr val="2A2F16"/>
                      </a:solidFill>
                    </a:lnL>
                    <a:lnR w="15875" cap="flat" cmpd="sng" algn="ctr">
                      <a:solidFill>
                        <a:srgbClr val="2A2F16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</a:lnT>
                    <a:lnB w="15875" cap="flat" cmpd="sng" algn="ctr">
                      <a:solidFill>
                        <a:srgbClr val="2A2F16"/>
                      </a:solidFill>
                    </a:lnB>
                    <a:solidFill>
                      <a:srgbClr val="4D5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7761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034F03"/>
                          </a:solidFill>
                          <a:latin typeface="Calibri"/>
                        </a:rPr>
                        <a:t>UAV Flood-Survivor
Detection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Prabhu et al., "RescueNet: YOLO-based detection and counting of flood survivors," Model. Earth Syst. Environ., 2022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2E6417"/>
                          </a:solidFill>
                          <a:latin typeface="Calibri"/>
                        </a:rPr>
                        <a:t>YOLO-based detection and counting of flood survivors from UAV imagery; ~98% reported mAP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902B2B"/>
                          </a:solidFill>
                          <a:latin typeface="Calibri"/>
                        </a:rPr>
                        <a:t>Single-frame only; no tracking, memory or rescue prioritization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7761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034F03"/>
                          </a:solidFill>
                          <a:latin typeface="Calibri"/>
                        </a:rPr>
                        <a:t>Real-Time Flood
Rescue Targeting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Zhao, Sui &amp; Zhu, "Real-time rescue target detection based on UAV imagery," J. Geod. Geoinf. Sci., 2024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2E6417"/>
                          </a:solidFill>
                          <a:latin typeface="Calibri"/>
                        </a:rPr>
                        <a:t>Delineates flood extent and detects trapped pedestrians and vehicles in real time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902B2B"/>
                          </a:solidFill>
                          <a:latin typeface="Calibri"/>
                        </a:rPr>
                        <a:t>No temporal tracking, no victim-state memory, no ranked priority output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7761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034F03"/>
                          </a:solidFill>
                          <a:latin typeface="Calibri"/>
                        </a:rPr>
                        <a:t>Disaster Human-
Detection Datasets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Nihal et al., "C2A: benchmarking a human detection dataset for disaster scenarios," ICPR, 2024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2E6417"/>
                          </a:solidFill>
                          <a:latin typeface="Calibri"/>
                        </a:rPr>
                        <a:t>Synthetic UAV disaster dataset; fine-tuning on it substantially improves SAR detection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902B2B"/>
                          </a:solidFill>
                          <a:latin typeface="Calibri"/>
                        </a:rPr>
                        <a:t>General disaster, not flood-specific; detection only; synthetic/composite imagery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7761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034F03"/>
                          </a:solidFill>
                          <a:latin typeface="Calibri"/>
                        </a:rPr>
                        <a:t>Post-Flood Scene
Understanding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Rahnemoonfar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 et al., "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FloodNet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: high-resolution aerial imagery for post-flood scene understanding," IEEE Access, 2021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2E6417"/>
                          </a:solidFill>
                          <a:latin typeface="Calibri"/>
                        </a:rPr>
                        <a:t>High-resolution UAV dataset supporting flood segmentation, classification and VQA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902B2B"/>
                          </a:solidFill>
                          <a:latin typeface="Calibri"/>
                        </a:rPr>
                        <a:t>Built for scene understanding, not victim detection, localization or ranking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7761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 dirty="0">
                          <a:solidFill>
                            <a:srgbClr val="034F03"/>
                          </a:solidFill>
                          <a:latin typeface="Calibri"/>
                        </a:rPr>
                        <a:t>Human Position
Recognition on Water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Nikitin et al., "Evaluation of YOLO models for human position recognition with UAVs during a flood," Appl. Syst. Innov., 2025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2E6417"/>
                          </a:solidFill>
                          <a:latin typeface="Calibri"/>
                        </a:rPr>
                        <a:t>YOLO12 combined with optical flow and Kalman filtering for people on water; mAP ≈ 0.95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 dirty="0">
                          <a:solidFill>
                            <a:srgbClr val="902B2B"/>
                          </a:solidFill>
                          <a:latin typeface="Calibri"/>
                        </a:rPr>
                        <a:t>Maritime / open-water focus; no victim memory or rescue-priority mapping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19456"/>
            <a:ext cx="11155680" cy="41549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 dirty="0">
                <a:solidFill>
                  <a:srgbClr val="034F03"/>
                </a:solidFill>
                <a:latin typeface="Century Gothic"/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50387"/>
              </p:ext>
            </p:extLst>
          </p:nvPr>
        </p:nvGraphicFramePr>
        <p:xfrm>
          <a:off x="384048" y="868679"/>
          <a:ext cx="11055096" cy="564027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494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Research Area</a:t>
                      </a:r>
                    </a:p>
                  </a:txBody>
                  <a:tcPr marL="64008" marR="64008" marT="36576" marB="36576" anchor="ctr">
                    <a:lnL w="15875" cap="flat" cmpd="sng" algn="ctr">
                      <a:solidFill>
                        <a:srgbClr val="2A2F16"/>
                      </a:solidFill>
                    </a:lnL>
                    <a:lnR w="15875" cap="flat" cmpd="sng" algn="ctr">
                      <a:solidFill>
                        <a:srgbClr val="2A2F16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</a:lnT>
                    <a:lnB w="15875" cap="flat" cmpd="sng" algn="ctr">
                      <a:solidFill>
                        <a:srgbClr val="2A2F16"/>
                      </a:solidFill>
                    </a:lnB>
                    <a:solidFill>
                      <a:srgbClr val="4D57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Key Work</a:t>
                      </a:r>
                    </a:p>
                  </a:txBody>
                  <a:tcPr marL="64008" marR="64008" marT="36576" marB="36576" anchor="ctr">
                    <a:lnL w="15875" cap="flat" cmpd="sng" algn="ctr">
                      <a:solidFill>
                        <a:srgbClr val="2A2F16"/>
                      </a:solidFill>
                    </a:lnL>
                    <a:lnR w="15875" cap="flat" cmpd="sng" algn="ctr">
                      <a:solidFill>
                        <a:srgbClr val="2A2F16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</a:lnT>
                    <a:lnB w="15875" cap="flat" cmpd="sng" algn="ctr">
                      <a:solidFill>
                        <a:srgbClr val="2A2F16"/>
                      </a:solidFill>
                    </a:lnB>
                    <a:solidFill>
                      <a:srgbClr val="4D57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Findings</a:t>
                      </a:r>
                    </a:p>
                  </a:txBody>
                  <a:tcPr marL="64008" marR="64008" marT="36576" marB="36576" anchor="ctr">
                    <a:lnL w="15875" cap="flat" cmpd="sng" algn="ctr">
                      <a:solidFill>
                        <a:srgbClr val="2A2F16"/>
                      </a:solidFill>
                    </a:lnL>
                    <a:lnR w="15875" cap="flat" cmpd="sng" algn="ctr">
                      <a:solidFill>
                        <a:srgbClr val="2A2F16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</a:lnT>
                    <a:lnB w="15875" cap="flat" cmpd="sng" algn="ctr">
                      <a:solidFill>
                        <a:srgbClr val="2A2F16"/>
                      </a:solidFill>
                    </a:lnB>
                    <a:solidFill>
                      <a:srgbClr val="4D57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Limitation / Gap</a:t>
                      </a:r>
                    </a:p>
                  </a:txBody>
                  <a:tcPr marL="64008" marR="64008" marT="36576" marB="36576" anchor="ctr">
                    <a:lnL w="15875" cap="flat" cmpd="sng" algn="ctr">
                      <a:solidFill>
                        <a:srgbClr val="2A2F16"/>
                      </a:solidFill>
                    </a:lnL>
                    <a:lnR w="15875" cap="flat" cmpd="sng" algn="ctr">
                      <a:solidFill>
                        <a:srgbClr val="2A2F16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</a:lnT>
                    <a:lnB w="15875" cap="flat" cmpd="sng" algn="ctr">
                      <a:solidFill>
                        <a:srgbClr val="2A2F16"/>
                      </a:solidFill>
                    </a:lnB>
                    <a:solidFill>
                      <a:srgbClr val="4D5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6356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034F03"/>
                          </a:solidFill>
                          <a:latin typeface="Calibri"/>
                        </a:rPr>
                        <a:t>Rooftop Victim
Detection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Fine-tuned deep models for people detection in UAV building images, Int. J. Appl. Earth Obs. Geoinf., 2025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 dirty="0">
                          <a:solidFill>
                            <a:srgbClr val="2E6417"/>
                          </a:solidFill>
                          <a:latin typeface="Calibri"/>
                        </a:rPr>
                        <a:t>Fine-tuned YOLOv9 reaching ~87% </a:t>
                      </a:r>
                      <a:r>
                        <a:rPr lang="en-US" sz="1400" b="0" dirty="0">
                          <a:solidFill>
                            <a:srgbClr val="2E6417"/>
                          </a:solidFill>
                          <a:latin typeface="Calibri"/>
                        </a:rPr>
                        <a:t>M</a:t>
                      </a:r>
                      <a:r>
                        <a:rPr sz="1400" b="0" dirty="0">
                          <a:solidFill>
                            <a:srgbClr val="2E6417"/>
                          </a:solidFill>
                          <a:latin typeface="Calibri"/>
                        </a:rPr>
                        <a:t>AP for people stranded on rooftops and in buildings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902B2B"/>
                          </a:solidFill>
                          <a:latin typeface="Calibri"/>
                        </a:rPr>
                        <a:t>Detection only; no counting, tracking or decision-level output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356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034F03"/>
                          </a:solidFill>
                          <a:latin typeface="Calibri"/>
                        </a:rPr>
                        <a:t>Small-Object
Detection Technique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Akyon, Altinuc &amp; Temizel, "Slicing aided hyper inference and fine-tuning for small object detection," IEEE ICIP, 2022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2E6417"/>
                          </a:solidFill>
                          <a:latin typeface="Calibri"/>
                        </a:rPr>
                        <a:t>Slices images into overlapping tiles, greatly improving small-object detection accuracy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902B2B"/>
                          </a:solidFill>
                          <a:latin typeface="Calibri"/>
                        </a:rPr>
                        <a:t>A technique, not a full rescue system; noticeably increases inference time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6356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034F03"/>
                          </a:solidFill>
                          <a:latin typeface="Calibri"/>
                        </a:rPr>
                        <a:t>Multi-Object
Tracking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Zhang et al., "ByteTrack: multi-object tracking by associating every detection box," ECCV, 2022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2E6417"/>
                          </a:solidFill>
                          <a:latin typeface="Calibri"/>
                        </a:rPr>
                        <a:t>Associates every detection box — high and low confidence — for robust identity retention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902B2B"/>
                          </a:solidFill>
                          <a:latin typeface="Calibri"/>
                        </a:rPr>
                        <a:t>Generic tracker; no flood context, severity awareness or prioritization logic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6356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034F03"/>
                          </a:solidFill>
                          <a:latin typeface="Calibri"/>
                        </a:rPr>
                        <a:t>Aerial Emergency-
Scene Classification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Kyrkou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 &amp; 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  <a:latin typeface="Calibri"/>
                        </a:rPr>
                        <a:t>Theocharides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, "Deep-learning-based aerial image classification for emergency response (AIDER)," CVPR-W, 2020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2E6417"/>
                          </a:solidFill>
                          <a:latin typeface="Calibri"/>
                        </a:rPr>
                        <a:t>Lightweight CNN classifying aerial disaster scenes — fire, flood, building collapse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902B2B"/>
                          </a:solidFill>
                          <a:latin typeface="Calibri"/>
                        </a:rPr>
                        <a:t>Scene-level classification only; no victim localization, counting or ranking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6356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1">
                          <a:solidFill>
                            <a:srgbClr val="034F03"/>
                          </a:solidFill>
                          <a:latin typeface="Calibri"/>
                        </a:rPr>
                        <a:t>Aerial Flood Scene
Analysis (South Asia)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 dirty="0">
                          <a:solidFill>
                            <a:srgbClr val="1A1A1A"/>
                          </a:solidFill>
                          <a:latin typeface="Calibri"/>
                        </a:rPr>
                        <a:t>Hassan et al., "Aerial flood scene classification using fine-tuned attention-based architecture," arXiv:2411.00169, 2024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>
                          <a:solidFill>
                            <a:srgbClr val="2E6417"/>
                          </a:solidFill>
                          <a:latin typeface="Calibri"/>
                        </a:rPr>
                        <a:t>YOLOv8 applied to detect humans and houses in South-Asian aerial flood imagery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400" b="0" dirty="0">
                          <a:solidFill>
                            <a:srgbClr val="902B2B"/>
                          </a:solidFill>
                          <a:latin typeface="Calibri"/>
                        </a:rPr>
                        <a:t>Low human-detection accuracy (~67%); no tracking, memory or priority output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34F03"/>
                </a:solidFill>
                <a:latin typeface="Century Gothic"/>
              </a:rPr>
              <a:t>Research Gap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934643"/>
              </p:ext>
            </p:extLst>
          </p:nvPr>
        </p:nvGraphicFramePr>
        <p:xfrm>
          <a:off x="384048" y="841247"/>
          <a:ext cx="11430000" cy="553988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0255">
                <a:tc gridSpan="2"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entury Gothic"/>
                        </a:rPr>
                        <a:t>What’s Missing</a:t>
                      </a:r>
                    </a:p>
                  </a:txBody>
                  <a:tcPr marL="64008" marR="64008" marT="27432" marB="27432" anchor="ctr">
                    <a:lnL w="15875" cap="flat" cmpd="sng" algn="ctr">
                      <a:solidFill>
                        <a:srgbClr val="2A2F16"/>
                      </a:solidFill>
                    </a:lnL>
                    <a:lnR w="15875" cap="flat" cmpd="sng" algn="ctr">
                      <a:solidFill>
                        <a:srgbClr val="2A2F16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</a:lnT>
                    <a:lnB w="15875" cap="flat" cmpd="sng" algn="ctr">
                      <a:solidFill>
                        <a:srgbClr val="2A2F16"/>
                      </a:solidFill>
                    </a:lnB>
                    <a:solidFill>
                      <a:srgbClr val="4D572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entury Gothic"/>
                        </a:rPr>
                        <a:t>Our Contribution</a:t>
                      </a:r>
                    </a:p>
                  </a:txBody>
                  <a:tcPr marL="64008" marR="64008" marT="27432" marB="27432" anchor="ctr">
                    <a:lnL w="15875" cap="flat" cmpd="sng" algn="ctr">
                      <a:solidFill>
                        <a:srgbClr val="2A2F16"/>
                      </a:solidFill>
                    </a:lnL>
                    <a:lnR w="15875" cap="flat" cmpd="sng" algn="ctr">
                      <a:solidFill>
                        <a:srgbClr val="2A2F16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</a:lnT>
                    <a:lnB w="15875" cap="flat" cmpd="sng" algn="ctr">
                      <a:solidFill>
                        <a:srgbClr val="2A2F16"/>
                      </a:solidFill>
                    </a:lnB>
                    <a:solidFill>
                      <a:srgbClr val="4D572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926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600" b="1">
                          <a:solidFill>
                            <a:srgbClr val="034F03"/>
                          </a:solidFill>
                          <a:latin typeface="Calibri"/>
                        </a:rPr>
                        <a:t>Temporal Blindness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</a:pP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Systems describe only the present frame — no record of how long a victim has been stranded or how the situation is changing.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600" b="1">
                          <a:solidFill>
                            <a:srgbClr val="034F03"/>
                          </a:solidFill>
                          <a:latin typeface="Calibri"/>
                        </a:rPr>
                        <a:t>Short-Term Memory Module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2A2F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A per-victim state buffer (time stranded, movement, water trend) built on stable ByteTrack identities.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926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600" b="1">
                          <a:solidFill>
                            <a:srgbClr val="034F03"/>
                          </a:solidFill>
                          <a:latin typeface="Calibri"/>
                        </a:rPr>
                        <a:t>Tiny / Occluded Victims Missed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Standard detectors fail precisely on the smallest, partly-hidden targets — the most rescue-critical case.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600" b="1">
                          <a:solidFill>
                            <a:srgbClr val="034F03"/>
                          </a:solidFill>
                          <a:latin typeface="Calibri"/>
                        </a:rPr>
                        <a:t>SAHI + Two-Stage Training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Slicing-aided hyper inference at high resolution, with VisDrone pre-training followed by flood fine-tuning.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9926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600" b="1">
                          <a:solidFill>
                            <a:srgbClr val="034F03"/>
                          </a:solidFill>
                          <a:latin typeface="Calibri"/>
                        </a:rPr>
                        <a:t>Severity-Blind Ranking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Flood-water segmentation is studied separately and never fused into victim prioritization.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600" b="1">
                          <a:solidFill>
                            <a:srgbClr val="034F03"/>
                          </a:solidFill>
                          <a:latin typeface="Calibri"/>
                        </a:rPr>
                        <a:t>Severity-Aware Fusion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U-Net water extent measured around each victim group feeds directly into the rescue-risk score.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9926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600" b="1">
                          <a:solidFill>
                            <a:srgbClr val="034F03"/>
                          </a:solidFill>
                          <a:latin typeface="Calibri"/>
                        </a:rPr>
                        <a:t>No Decision-Level Output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Work ends at boxes, masks or counts, leaving teams to prioritize dozens of locations manually.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600" b="1">
                          <a:solidFill>
                            <a:srgbClr val="034F03"/>
                          </a:solidFill>
                          <a:latin typeface="Calibri"/>
                        </a:rPr>
                        <a:t>Dynamic Rescue-Priority Map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Ranked Critical → Low output with a victim summary table and automatic alerts for critical sites.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9926"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600" b="1">
                          <a:solidFill>
                            <a:srgbClr val="034F03"/>
                          </a:solidFill>
                          <a:latin typeface="Calibri"/>
                        </a:rPr>
                        <a:t>Single-Task Pipelines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Detection, tracking and segmentation are advanced in isolation, never assembled into one system.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2000"/>
                        </a:lnSpc>
                      </a:pPr>
                      <a:r>
                        <a:rPr sz="1600" b="1">
                          <a:solidFill>
                            <a:srgbClr val="034F03"/>
                          </a:solidFill>
                          <a:latin typeface="Calibri"/>
                        </a:rPr>
                        <a:t>First Integrated Pipeline</a:t>
                      </a:r>
                    </a:p>
                  </a:txBody>
                  <a:tcPr marL="64008" marR="64008" marT="54864" marB="54864" anchor="ctr">
                    <a:lnL w="12700" cap="flat" cmpd="sng" algn="ctr">
                      <a:solidFill>
                        <a:srgbClr val="C9CF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FFFFFF"/>
                      </a:solidFill>
                    </a:lnR>
                    <a:lnT w="15875" cap="flat" cmpd="sng" algn="ctr">
                      <a:solidFill>
                        <a:srgbClr val="FFFFFF"/>
                      </a:solidFill>
                    </a:lnT>
                    <a:lnB w="15875" cap="flat" cmpd="sng" algn="ctr">
                      <a:solidFill>
                        <a:srgbClr val="FFFFFF"/>
                      </a:solidFill>
                    </a:lnB>
                    <a:solidFill>
                      <a:srgbClr val="CFE2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</a:pPr>
                      <a:r>
                        <a:rPr sz="1600" b="0" dirty="0">
                          <a:solidFill>
                            <a:srgbClr val="1A1A1A"/>
                          </a:solidFill>
                          <a:latin typeface="Calibri"/>
                        </a:rPr>
                        <a:t>Detect → Track → Remember → Assess Severity → Rank, delivered as ONE end-to-end system.</a:t>
                      </a:r>
                    </a:p>
                  </a:txBody>
                  <a:tcPr marL="64008" marR="64008" marT="54864" marB="54864" anchor="ctr">
                    <a:lnL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FB0"/>
                      </a:solidFill>
                    </a:lnR>
                    <a:lnT w="12700" cap="flat" cmpd="sng" algn="ctr">
                      <a:solidFill>
                        <a:srgbClr val="C9CFB0"/>
                      </a:solidFill>
                    </a:lnT>
                    <a:lnB w="12700" cap="flat" cmpd="sng" algn="ctr">
                      <a:solidFill>
                        <a:srgbClr val="C9CF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82880"/>
            <a:ext cx="11155680" cy="548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34F03"/>
                </a:solidFill>
                <a:latin typeface="Century Gothic"/>
              </a:rPr>
              <a:t>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9719" y="1481328"/>
            <a:ext cx="3584448" cy="4956048"/>
          </a:xfrm>
          <a:prstGeom prst="roundRect">
            <a:avLst>
              <a:gd name="adj" fmla="val 3500"/>
            </a:avLst>
          </a:prstGeom>
          <a:noFill/>
          <a:ln w="22225">
            <a:solidFill>
              <a:srgbClr val="548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907895" y="941832"/>
            <a:ext cx="768096" cy="768096"/>
          </a:xfrm>
          <a:prstGeom prst="ellipse">
            <a:avLst/>
          </a:prstGeom>
          <a:solidFill>
            <a:srgbClr val="54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entury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447" y="1847088"/>
            <a:ext cx="3364991" cy="4114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Century Gothic"/>
              </a:rPr>
              <a:t>Social &amp; Humanitarian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463" y="2395728"/>
            <a:ext cx="3108960" cy="359835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Floods kill thousands every year — faster, prioritized rescue directly reduces deaths.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Helps teams reach the unreachable when submerged roads and deadly currents rule out ground search.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Protects the most vulnerable — children, the elderly and livestock stranded on rooftops.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Turns raw drone footage into a decision a command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centre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can act on within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3623" y="1481328"/>
            <a:ext cx="3584448" cy="4956048"/>
          </a:xfrm>
          <a:prstGeom prst="roundRect">
            <a:avLst>
              <a:gd name="adj" fmla="val 3500"/>
            </a:avLst>
          </a:prstGeom>
          <a:noFill/>
          <a:ln w="22225">
            <a:solidFill>
              <a:srgbClr val="548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11799" y="941832"/>
            <a:ext cx="768096" cy="768096"/>
          </a:xfrm>
          <a:prstGeom prst="ellipse">
            <a:avLst/>
          </a:prstGeom>
          <a:solidFill>
            <a:srgbClr val="54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entury Gothi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3351" y="1847088"/>
            <a:ext cx="3364991" cy="4114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Century Gothic"/>
              </a:rPr>
              <a:t>Technical Innovation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2395728"/>
            <a:ext cx="3108960" cy="335707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The hardest technical problem — tiny, occluded victims — is also the most rescue-critical: difficulty and purpose align.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No prior work combines detection, tracking, memory, flood severity and prioritization.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Bridges computer vision, multi-object tracking and decision reasoning in one pipeline.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Contributes to the AI-for-Disaster-Response research domain.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527" y="1481328"/>
            <a:ext cx="3584448" cy="4956048"/>
          </a:xfrm>
          <a:prstGeom prst="roundRect">
            <a:avLst>
              <a:gd name="adj" fmla="val 3500"/>
            </a:avLst>
          </a:prstGeom>
          <a:noFill/>
          <a:ln w="22225">
            <a:solidFill>
              <a:srgbClr val="548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515703" y="941832"/>
            <a:ext cx="768096" cy="768096"/>
          </a:xfrm>
          <a:prstGeom prst="ellipse">
            <a:avLst/>
          </a:prstGeom>
          <a:solidFill>
            <a:srgbClr val="54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entury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7255" y="1847088"/>
            <a:ext cx="3364991" cy="4114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Century Gothic"/>
              </a:rPr>
              <a:t>Feasibility &amp;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5271" y="2395728"/>
            <a:ext cx="3108960" cy="247933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Built entirely on proven, well-documented tools — YOLOv8, SAHI,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ByteTrack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and U-Net.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Public datasets already exist —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VisDrone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, the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Roboflow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flood set and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FloodNet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Deployable as a decision-support layer for NDRF-style rescue and disaster command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centres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" y="0"/>
            <a:ext cx="120560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6285" y="236626"/>
            <a:ext cx="11155680" cy="43088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 dirty="0">
                <a:solidFill>
                  <a:srgbClr val="034F03"/>
                </a:solidFill>
                <a:latin typeface="Century Gothic"/>
              </a:rPr>
              <a:t>Proposed Plan of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701" y="960120"/>
            <a:ext cx="1810512" cy="365760"/>
          </a:xfrm>
          <a:prstGeom prst="rect">
            <a:avLst/>
          </a:prstGeom>
          <a:solidFill>
            <a:srgbClr val="4D5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PHASE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355701" y="1325880"/>
            <a:ext cx="1810512" cy="566928"/>
          </a:xfrm>
          <a:prstGeom prst="rect">
            <a:avLst/>
          </a:prstGeom>
          <a:solidFill>
            <a:srgbClr val="CFE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 dirty="0">
                <a:solidFill>
                  <a:srgbClr val="034F03"/>
                </a:solidFill>
                <a:latin typeface="Calibri"/>
              </a:rPr>
              <a:t>Week 1</a:t>
            </a:r>
            <a:endParaRPr sz="1400" b="1" i="0" dirty="0">
              <a:solidFill>
                <a:srgbClr val="034F03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5701" y="1892807"/>
            <a:ext cx="1810512" cy="658368"/>
          </a:xfrm>
          <a:prstGeom prst="rect">
            <a:avLst/>
          </a:prstGeom>
          <a:solidFill>
            <a:srgbClr val="54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Literature Review &amp;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5701" y="2551176"/>
            <a:ext cx="18105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Ins="73152" bIns="54864" rtlCol="0" anchor="t"/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Survey UAV flood-rescue literature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Finalize problem and baselines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Acquire VisDrone, Roboflow flood, FloodNet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Set up Colab / GPU environment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9657" y="960120"/>
            <a:ext cx="1810512" cy="365760"/>
          </a:xfrm>
          <a:prstGeom prst="rect">
            <a:avLst/>
          </a:prstGeom>
          <a:solidFill>
            <a:srgbClr val="4D5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PHASE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9657" y="1325880"/>
            <a:ext cx="1810512" cy="566928"/>
          </a:xfrm>
          <a:prstGeom prst="rect">
            <a:avLst/>
          </a:prstGeom>
          <a:solidFill>
            <a:srgbClr val="CFE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034F03"/>
                </a:solidFill>
              </a:rPr>
              <a:t>Week 2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9657" y="1892807"/>
            <a:ext cx="1810512" cy="658368"/>
          </a:xfrm>
          <a:prstGeom prst="rect">
            <a:avLst/>
          </a:prstGeom>
          <a:solidFill>
            <a:srgbClr val="54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Design &amp;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9657" y="2551176"/>
            <a:ext cx="18105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Ins="73152" bIns="54864" rtlCol="0" anchor="t"/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Freeze pipeline architecture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Define module interfaces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Fix class map: person / vehicle / animal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Design the risk-scoring formula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3613" y="960120"/>
            <a:ext cx="1810512" cy="365760"/>
          </a:xfrm>
          <a:prstGeom prst="rect">
            <a:avLst/>
          </a:prstGeom>
          <a:solidFill>
            <a:srgbClr val="4D5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PHASE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3613" y="1325880"/>
            <a:ext cx="1810512" cy="566928"/>
          </a:xfrm>
          <a:prstGeom prst="rect">
            <a:avLst/>
          </a:prstGeom>
          <a:solidFill>
            <a:srgbClr val="CFE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034F03"/>
                </a:solidFill>
              </a:rPr>
              <a:t>Week 3 - 4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3613" y="1892807"/>
            <a:ext cx="1810512" cy="658368"/>
          </a:xfrm>
          <a:prstGeom prst="rect">
            <a:avLst/>
          </a:prstGeom>
          <a:solidFill>
            <a:srgbClr val="54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Detection +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Tracking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3613" y="2551176"/>
            <a:ext cx="18105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Ins="73152" bIns="54864" rtlCol="0" anchor="t"/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Convert annotations to YOLO format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Stage-1 training on VisDrone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Stage-2 fine-tune on flood data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Integrate SAHI and ByteTrack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7569" y="960120"/>
            <a:ext cx="1810512" cy="365760"/>
          </a:xfrm>
          <a:prstGeom prst="rect">
            <a:avLst/>
          </a:prstGeom>
          <a:solidFill>
            <a:srgbClr val="4D5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PHASE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7569" y="1325880"/>
            <a:ext cx="1810512" cy="566928"/>
          </a:xfrm>
          <a:prstGeom prst="rect">
            <a:avLst/>
          </a:prstGeom>
          <a:solidFill>
            <a:srgbClr val="CFE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34F03"/>
                </a:solidFill>
              </a:rPr>
              <a:t>Week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7569" y="1892807"/>
            <a:ext cx="1810512" cy="658368"/>
          </a:xfrm>
          <a:prstGeom prst="rect">
            <a:avLst/>
          </a:prstGeom>
          <a:solidFill>
            <a:srgbClr val="54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Memory +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Severity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7569" y="2551176"/>
            <a:ext cx="18105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Ins="73152" bIns="54864" rtlCol="0" anchor="t"/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Build per-victim memory buffer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Prepare FloodNet water masks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Train the U-Net severity model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Implement risk &amp; priority scoring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1525" y="960120"/>
            <a:ext cx="1810512" cy="365760"/>
          </a:xfrm>
          <a:prstGeom prst="rect">
            <a:avLst/>
          </a:prstGeom>
          <a:solidFill>
            <a:srgbClr val="4D5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PHASE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1525" y="1325880"/>
            <a:ext cx="1810512" cy="566928"/>
          </a:xfrm>
          <a:prstGeom prst="rect">
            <a:avLst/>
          </a:prstGeom>
          <a:solidFill>
            <a:srgbClr val="CFE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034F03"/>
                </a:solidFill>
              </a:rPr>
              <a:t>Week 6 - 7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1525" y="1892807"/>
            <a:ext cx="1810512" cy="658368"/>
          </a:xfrm>
          <a:prstGeom prst="rect">
            <a:avLst/>
          </a:prstGeom>
          <a:solidFill>
            <a:srgbClr val="54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Integration &amp;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Testing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1525" y="2551176"/>
            <a:ext cx="18105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Ins="73152" bIns="54864" rtlCol="0" anchor="t"/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Connect all five modules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Render priority map &amp; summary table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Baseline and ablation studies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Collect mAP, MOTA / IDF1, IoU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25481" y="960120"/>
            <a:ext cx="1810512" cy="365760"/>
          </a:xfrm>
          <a:prstGeom prst="rect">
            <a:avLst/>
          </a:prstGeom>
          <a:solidFill>
            <a:srgbClr val="4D5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PHASE 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25481" y="1325880"/>
            <a:ext cx="1810512" cy="566928"/>
          </a:xfrm>
          <a:prstGeom prst="rect">
            <a:avLst/>
          </a:prstGeom>
          <a:solidFill>
            <a:srgbClr val="CFE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034F03"/>
                </a:solidFill>
              </a:rPr>
              <a:t>Week 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25481" y="1892807"/>
            <a:ext cx="1810512" cy="658368"/>
          </a:xfrm>
          <a:prstGeom prst="rect">
            <a:avLst/>
          </a:prstGeom>
          <a:solidFill>
            <a:srgbClr val="54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Documentation &amp;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entury Gothic"/>
              </a:rPr>
              <a:t>Final Submission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25481" y="2551176"/>
            <a:ext cx="18105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Ins="73152" bIns="54864" rtlCol="0" anchor="t"/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Compile the evaluation report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Record the demo video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Publish documented Git repository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Final report and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6455664"/>
          </a:xfrm>
          <a:prstGeom prst="rect">
            <a:avLst/>
          </a:prstGeom>
          <a:solidFill>
            <a:srgbClr val="E0E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777240"/>
            <a:ext cx="5486400" cy="548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D5728"/>
                </a:solidFill>
                <a:latin typeface="Century Gothic"/>
              </a:rPr>
              <a:t>Techstack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81328"/>
            <a:ext cx="10058400" cy="47548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4D5728"/>
                </a:solidFill>
                <a:latin typeface="Calibri"/>
              </a:rPr>
              <a:t>•  Language:  </a:t>
            </a:r>
            <a:r>
              <a:rPr sz="1500" b="0">
                <a:solidFill>
                  <a:srgbClr val="1A1A1A"/>
                </a:solidFill>
                <a:latin typeface="Calibri"/>
              </a:rPr>
              <a:t>Python 3.10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4D5728"/>
                </a:solidFill>
                <a:latin typeface="Calibri"/>
              </a:rPr>
              <a:t>•  Detection:  </a:t>
            </a:r>
            <a:r>
              <a:rPr sz="1500" b="0">
                <a:solidFill>
                  <a:srgbClr val="1A1A1A"/>
                </a:solidFill>
                <a:latin typeface="Calibri"/>
              </a:rPr>
              <a:t>Ultralytics YOLOv8 + SAHI (slicing-aided hyper inference)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4D5728"/>
                </a:solidFill>
                <a:latin typeface="Calibri"/>
              </a:rPr>
              <a:t>•  Tracking:  </a:t>
            </a:r>
            <a:r>
              <a:rPr sz="1500" b="0">
                <a:solidFill>
                  <a:srgbClr val="1A1A1A"/>
                </a:solidFill>
                <a:latin typeface="Calibri"/>
              </a:rPr>
              <a:t>ByteTrack — multi-object tracking with stable victim IDs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4D5728"/>
                </a:solidFill>
                <a:latin typeface="Calibri"/>
              </a:rPr>
              <a:t>•  Segmentation:  </a:t>
            </a:r>
            <a:r>
              <a:rPr sz="1500" b="0">
                <a:solidFill>
                  <a:srgbClr val="1A1A1A"/>
                </a:solidFill>
                <a:latin typeface="Calibri"/>
              </a:rPr>
              <a:t>U-Net encoder–decoder for flood-severity estimation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4D5728"/>
                </a:solidFill>
                <a:latin typeface="Calibri"/>
              </a:rPr>
              <a:t>•  ML Framework:  </a:t>
            </a:r>
            <a:r>
              <a:rPr sz="1500" b="0">
                <a:solidFill>
                  <a:srgbClr val="1A1A1A"/>
                </a:solidFill>
                <a:latin typeface="Calibri"/>
              </a:rPr>
              <a:t>PyTorch (CUDA)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4D5728"/>
                </a:solidFill>
                <a:latin typeface="Calibri"/>
              </a:rPr>
              <a:t>•  Vision / Numeric:  </a:t>
            </a:r>
            <a:r>
              <a:rPr sz="1500" b="0">
                <a:solidFill>
                  <a:srgbClr val="1A1A1A"/>
                </a:solidFill>
                <a:latin typeface="Calibri"/>
              </a:rPr>
              <a:t>OpenCV, NumPy, Albumentations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4D5728"/>
                </a:solidFill>
                <a:latin typeface="Calibri"/>
              </a:rPr>
              <a:t>•  Datasets:  </a:t>
            </a:r>
            <a:r>
              <a:rPr sz="1500" b="0">
                <a:solidFill>
                  <a:srgbClr val="1A1A1A"/>
                </a:solidFill>
                <a:latin typeface="Calibri"/>
              </a:rPr>
              <a:t>VisDrone (base) · Roboflow flood set (fine-tune) · FloodNet (severity)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4D5728"/>
                </a:solidFill>
                <a:latin typeface="Calibri"/>
              </a:rPr>
              <a:t>•  Annotation &amp; Conversion:  </a:t>
            </a:r>
            <a:r>
              <a:rPr sz="1500" b="0">
                <a:solidFill>
                  <a:srgbClr val="1A1A1A"/>
                </a:solidFill>
                <a:latin typeface="Calibri"/>
              </a:rPr>
              <a:t>Roboflow + custom VisDrone → YOLO format converters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4D5728"/>
                </a:solidFill>
                <a:latin typeface="Calibri"/>
              </a:rPr>
              <a:t>•  Memory &amp; Fusion:  </a:t>
            </a:r>
            <a:r>
              <a:rPr sz="1500" b="0">
                <a:solidFill>
                  <a:srgbClr val="1A1A1A"/>
                </a:solidFill>
                <a:latin typeface="Calibri"/>
              </a:rPr>
              <a:t>Custom Python state buffer + weighted risk-scoring engine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4D5728"/>
                </a:solidFill>
                <a:latin typeface="Calibri"/>
              </a:rPr>
              <a:t>•  Visualization:  </a:t>
            </a:r>
            <a:r>
              <a:rPr sz="1500" b="0">
                <a:solidFill>
                  <a:srgbClr val="1A1A1A"/>
                </a:solidFill>
                <a:latin typeface="Calibri"/>
              </a:rPr>
              <a:t>Matplotlib / Folium — priority map, victim summary table, alerts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4D5728"/>
                </a:solidFill>
                <a:latin typeface="Calibri"/>
              </a:rPr>
              <a:t>•  Platform:  </a:t>
            </a:r>
            <a:r>
              <a:rPr sz="1500" b="0">
                <a:solidFill>
                  <a:srgbClr val="1A1A1A"/>
                </a:solidFill>
                <a:latin typeface="Calibri"/>
              </a:rPr>
              <a:t>Google Colab Pro / GPU-enabled workstation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4D5728"/>
                </a:solidFill>
                <a:latin typeface="Calibri"/>
              </a:rPr>
              <a:t>•  Version Control:  </a:t>
            </a:r>
            <a:r>
              <a:rPr sz="1500" b="0">
                <a:solidFill>
                  <a:srgbClr val="1A1A1A"/>
                </a:solidFill>
                <a:latin typeface="Calibri"/>
              </a:rPr>
              <a:t>Git / GitHub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6443" y="376772"/>
            <a:ext cx="11155680" cy="5029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034F03"/>
                </a:solidFill>
                <a:latin typeface="Century Gothic"/>
              </a:rPr>
              <a:t>Expected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304249"/>
            <a:ext cx="10698480" cy="421961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500"/>
              </a:spcAft>
            </a:pPr>
            <a:r>
              <a:rPr b="1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•  Flood-adapted victim detector</a:t>
            </a:r>
            <a:r>
              <a:rPr b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 — person / vehicle / animal detection on aerial flood imagery, with measurably higher small-object AP than a plain-YOLO baseline.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500"/>
              </a:spcAft>
            </a:pPr>
            <a:r>
              <a:rPr b="1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•  Flood-severity segmentation model</a:t>
            </a:r>
            <a:r>
              <a:rPr b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 — U-Net producing per-region water-extent maps from </a:t>
            </a:r>
            <a:r>
              <a:rPr b="0" dirty="0" err="1">
                <a:solidFill>
                  <a:schemeClr val="accent3">
                    <a:lumMod val="50000"/>
                  </a:schemeClr>
                </a:solidFill>
                <a:latin typeface="Calibri"/>
              </a:rPr>
              <a:t>FloodNet</a:t>
            </a:r>
            <a:r>
              <a:rPr b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 imagery, evaluated using </a:t>
            </a:r>
            <a:r>
              <a:rPr b="0" dirty="0" err="1">
                <a:solidFill>
                  <a:schemeClr val="accent3">
                    <a:lumMod val="50000"/>
                  </a:schemeClr>
                </a:solidFill>
                <a:latin typeface="Calibri"/>
              </a:rPr>
              <a:t>IoU</a:t>
            </a:r>
            <a:r>
              <a:rPr b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 and mean </a:t>
            </a:r>
            <a:r>
              <a:rPr b="0" dirty="0" err="1">
                <a:solidFill>
                  <a:schemeClr val="accent3">
                    <a:lumMod val="50000"/>
                  </a:schemeClr>
                </a:solidFill>
                <a:latin typeface="Calibri"/>
              </a:rPr>
              <a:t>IoU</a:t>
            </a:r>
            <a:r>
              <a:rPr b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500"/>
              </a:spcAft>
            </a:pPr>
            <a:r>
              <a:rPr b="1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•  Stable victim identity over time</a:t>
            </a:r>
            <a:r>
              <a:rPr b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 — </a:t>
            </a:r>
            <a:r>
              <a:rPr b="0" dirty="0" err="1">
                <a:solidFill>
                  <a:schemeClr val="accent3">
                    <a:lumMod val="50000"/>
                  </a:schemeClr>
                </a:solidFill>
                <a:latin typeface="Calibri"/>
              </a:rPr>
              <a:t>ByteTrack</a:t>
            </a:r>
            <a:r>
              <a:rPr b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 maintaining a unique ID per victim across frames, reported through MOTA and IDF1.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500"/>
              </a:spcAft>
            </a:pPr>
            <a:r>
              <a:rPr b="1" dirty="0">
                <a:latin typeface="Calibri"/>
              </a:rPr>
              <a:t>•  Integrated end-to-end pipeline — detect → track → remember → assess severity → rank, running continuously on aerial flood video.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500"/>
              </a:spcAft>
            </a:pPr>
            <a:r>
              <a:rPr b="1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•  Dynamic rescue-priority map</a:t>
            </a:r>
            <a:r>
              <a:rPr b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 — </a:t>
            </a:r>
            <a:r>
              <a:rPr b="0" dirty="0" err="1">
                <a:solidFill>
                  <a:schemeClr val="accent3">
                    <a:lumMod val="50000"/>
                  </a:schemeClr>
                </a:solidFill>
                <a:latin typeface="Calibri"/>
              </a:rPr>
              <a:t>colour</a:t>
            </a:r>
            <a:r>
              <a:rPr b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-coded Critical → Low markers with a victim summary table (ID, position, count, risk, priority) and alerts for critical sites.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500"/>
              </a:spcAft>
            </a:pPr>
            <a:r>
              <a:rPr b="1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•  Evaluation report</a:t>
            </a:r>
            <a:r>
              <a:rPr b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 — </a:t>
            </a:r>
            <a:r>
              <a:rPr b="0" dirty="0" err="1">
                <a:solidFill>
                  <a:schemeClr val="accent3">
                    <a:lumMod val="50000"/>
                  </a:schemeClr>
                </a:solidFill>
                <a:latin typeface="Calibri"/>
              </a:rPr>
              <a:t>VisDrone</a:t>
            </a:r>
            <a:r>
              <a:rPr b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-only vs flood fine-tuned, plain YOLO vs YOLO + SAHI, and ablations with and without memory and severity.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56032"/>
            <a:ext cx="10972800" cy="5029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34F03"/>
                </a:solidFill>
                <a:latin typeface="Century Gothic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835640" cy="498886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300"/>
              </a:spcAft>
            </a:pPr>
            <a:r>
              <a:rPr b="1" dirty="0">
                <a:solidFill>
                  <a:srgbClr val="4D5728"/>
                </a:solidFill>
                <a:latin typeface="Calibri"/>
              </a:rPr>
              <a:t>[1]  </a:t>
            </a:r>
            <a:r>
              <a:rPr b="0" dirty="0">
                <a:solidFill>
                  <a:srgbClr val="1A1A1A"/>
                </a:solidFill>
                <a:latin typeface="Calibri"/>
              </a:rPr>
              <a:t>B. V. B. Prabhu, R. Lakshmi, R. Ankitha, M. S. Prateeksha, and N. C. Priya, “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RescueNet</a:t>
            </a:r>
            <a:r>
              <a:rPr b="0" dirty="0">
                <a:solidFill>
                  <a:srgbClr val="1A1A1A"/>
                </a:solidFill>
                <a:latin typeface="Calibri"/>
              </a:rPr>
              <a:t>: YOLO-based object detection model for detection and counting of flood survivors,” Modeling Earth Systems and Environment, vol. 8, no. 4, pp. 4509–4516, 2022.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300"/>
              </a:spcAft>
            </a:pPr>
            <a:r>
              <a:rPr b="1" dirty="0">
                <a:solidFill>
                  <a:srgbClr val="4D5728"/>
                </a:solidFill>
                <a:latin typeface="Calibri"/>
              </a:rPr>
              <a:t>[2]  </a:t>
            </a:r>
            <a:r>
              <a:rPr b="0" dirty="0">
                <a:solidFill>
                  <a:srgbClr val="1A1A1A"/>
                </a:solidFill>
                <a:latin typeface="Calibri"/>
              </a:rPr>
              <a:t>B. Zhao, H. Sui, and Y. Zhu, “Real-time rescue target detection based on UAV imagery for flood emergency response,” Journal of Geodesy and Geoinformation Science, vol. 7, no. 1, pp. 74–89, 2024.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300"/>
              </a:spcAft>
            </a:pPr>
            <a:r>
              <a:rPr b="1" dirty="0">
                <a:solidFill>
                  <a:srgbClr val="4D5728"/>
                </a:solidFill>
                <a:latin typeface="Calibri"/>
              </a:rPr>
              <a:t>[3]  </a:t>
            </a:r>
            <a:r>
              <a:rPr b="0" dirty="0">
                <a:solidFill>
                  <a:srgbClr val="1A1A1A"/>
                </a:solidFill>
                <a:latin typeface="Calibri"/>
              </a:rPr>
              <a:t>R. A. Nihal, B. Yen, K.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Itoyama</a:t>
            </a:r>
            <a:r>
              <a:rPr b="0" dirty="0">
                <a:solidFill>
                  <a:srgbClr val="1A1A1A"/>
                </a:solidFill>
                <a:latin typeface="Calibri"/>
              </a:rPr>
              <a:t>, and K.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Nakadai</a:t>
            </a:r>
            <a:r>
              <a:rPr b="0" dirty="0">
                <a:solidFill>
                  <a:srgbClr val="1A1A1A"/>
                </a:solidFill>
                <a:latin typeface="Calibri"/>
              </a:rPr>
              <a:t>, “UAV-enhanced combination to application: Benchmarking of a human detection dataset for disaster scenarios,” in Proc. Int. Conf. Pattern Recognition (ICPR), 2024.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300"/>
              </a:spcAft>
            </a:pPr>
            <a:r>
              <a:rPr b="1" dirty="0">
                <a:solidFill>
                  <a:srgbClr val="4D5728"/>
                </a:solidFill>
                <a:latin typeface="Calibri"/>
              </a:rPr>
              <a:t>[4]  </a:t>
            </a:r>
            <a:r>
              <a:rPr b="0" dirty="0">
                <a:solidFill>
                  <a:srgbClr val="1A1A1A"/>
                </a:solidFill>
                <a:latin typeface="Calibri"/>
              </a:rPr>
              <a:t>M.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Rahnemoonfar</a:t>
            </a:r>
            <a:r>
              <a:rPr b="0" dirty="0">
                <a:solidFill>
                  <a:srgbClr val="1A1A1A"/>
                </a:solidFill>
                <a:latin typeface="Calibri"/>
              </a:rPr>
              <a:t>, T. Chowdhury, A. Sarkar, D. Varshney, M. Yari, and R. R. Murphy, “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FloodNet</a:t>
            </a:r>
            <a:r>
              <a:rPr b="0" dirty="0">
                <a:solidFill>
                  <a:srgbClr val="1A1A1A"/>
                </a:solidFill>
                <a:latin typeface="Calibri"/>
              </a:rPr>
              <a:t>: A high-resolution aerial imagery dataset for post-flood scene understanding,” IEEE Access, vol. 9, pp. 89644–89654, 2021.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300"/>
              </a:spcAft>
            </a:pPr>
            <a:r>
              <a:rPr b="1" dirty="0">
                <a:solidFill>
                  <a:srgbClr val="4D5728"/>
                </a:solidFill>
                <a:latin typeface="Calibri"/>
              </a:rPr>
              <a:t>[5]  </a:t>
            </a:r>
            <a:r>
              <a:rPr b="0" dirty="0">
                <a:solidFill>
                  <a:srgbClr val="1A1A1A"/>
                </a:solidFill>
                <a:latin typeface="Calibri"/>
              </a:rPr>
              <a:t>A. Nikitin et al., “Evaluation of YOLO models for human position recognition with UAVs during a flood,” Applied System Innovation, vol. 9, no. 1, 2025.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300"/>
              </a:spcAft>
            </a:pPr>
            <a:r>
              <a:rPr b="1" dirty="0">
                <a:solidFill>
                  <a:srgbClr val="4D5728"/>
                </a:solidFill>
                <a:latin typeface="Calibri"/>
              </a:rPr>
              <a:t>[6]  </a:t>
            </a:r>
            <a:r>
              <a:rPr b="0" dirty="0">
                <a:solidFill>
                  <a:srgbClr val="1A1A1A"/>
                </a:solidFill>
                <a:latin typeface="Calibri"/>
              </a:rPr>
              <a:t>“Fine-tuned deep models for people detection in UAV building images to aid flood rescue,” International Journal of Applied Earth Observation and Geoinformation, 2025.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300"/>
              </a:spcAft>
            </a:pPr>
            <a:r>
              <a:rPr b="1" dirty="0">
                <a:solidFill>
                  <a:srgbClr val="4D5728"/>
                </a:solidFill>
                <a:latin typeface="Calibri"/>
              </a:rPr>
              <a:t>[7]  </a:t>
            </a:r>
            <a:r>
              <a:rPr b="0" dirty="0">
                <a:solidFill>
                  <a:srgbClr val="1A1A1A"/>
                </a:solidFill>
                <a:latin typeface="Calibri"/>
              </a:rPr>
              <a:t>F. C.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Akyon</a:t>
            </a:r>
            <a:r>
              <a:rPr b="0" dirty="0">
                <a:solidFill>
                  <a:srgbClr val="1A1A1A"/>
                </a:solidFill>
                <a:latin typeface="Calibri"/>
              </a:rPr>
              <a:t>, S. O.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Altinuc</a:t>
            </a:r>
            <a:r>
              <a:rPr b="0" dirty="0">
                <a:solidFill>
                  <a:srgbClr val="1A1A1A"/>
                </a:solidFill>
                <a:latin typeface="Calibri"/>
              </a:rPr>
              <a:t>, and A.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Temizel</a:t>
            </a:r>
            <a:r>
              <a:rPr b="0" dirty="0">
                <a:solidFill>
                  <a:srgbClr val="1A1A1A"/>
                </a:solidFill>
                <a:latin typeface="Calibri"/>
              </a:rPr>
              <a:t>, “Slicing aided hyper inference and fine-tuning for small object detection,” in Proc. IEEE Int. Conf. Image Processing (ICIP), 2022, pp. 966–970.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56032"/>
            <a:ext cx="10972800" cy="5029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34F03"/>
                </a:solidFill>
                <a:latin typeface="Century Gothic"/>
              </a:rPr>
              <a:t>References (contd.)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835640" cy="498886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300"/>
              </a:spcAft>
            </a:pPr>
            <a:r>
              <a:rPr b="1" dirty="0">
                <a:solidFill>
                  <a:srgbClr val="4D5728"/>
                </a:solidFill>
                <a:latin typeface="Calibri"/>
              </a:rPr>
              <a:t>[8]  </a:t>
            </a:r>
            <a:r>
              <a:rPr b="0" dirty="0">
                <a:solidFill>
                  <a:srgbClr val="1A1A1A"/>
                </a:solidFill>
                <a:latin typeface="Calibri"/>
              </a:rPr>
              <a:t>Y. Zhang, P. Sun, Y. Jiang, D. Yu, F. Weng, Z. Yuan, P. Luo, W. Liu, and X. Wang, “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ByteTrack</a:t>
            </a:r>
            <a:r>
              <a:rPr b="0" dirty="0">
                <a:solidFill>
                  <a:srgbClr val="1A1A1A"/>
                </a:solidFill>
                <a:latin typeface="Calibri"/>
              </a:rPr>
              <a:t>: Multi-object tracking by associating every detection box,” in Proc. European Conf. Computer Vision (ECCV), 2022, pp. 1–21.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300"/>
              </a:spcAft>
            </a:pPr>
            <a:r>
              <a:rPr b="1" dirty="0">
                <a:solidFill>
                  <a:srgbClr val="4D5728"/>
                </a:solidFill>
                <a:latin typeface="Calibri"/>
              </a:rPr>
              <a:t>[9]  </a:t>
            </a:r>
            <a:r>
              <a:rPr b="0" dirty="0">
                <a:solidFill>
                  <a:srgbClr val="1A1A1A"/>
                </a:solidFill>
                <a:latin typeface="Calibri"/>
              </a:rPr>
              <a:t>C.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Kyrkou</a:t>
            </a:r>
            <a:r>
              <a:rPr b="0" dirty="0">
                <a:solidFill>
                  <a:srgbClr val="1A1A1A"/>
                </a:solidFill>
                <a:latin typeface="Calibri"/>
              </a:rPr>
              <a:t> and T.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Theocharides</a:t>
            </a:r>
            <a:r>
              <a:rPr b="0" dirty="0">
                <a:solidFill>
                  <a:srgbClr val="1A1A1A"/>
                </a:solidFill>
                <a:latin typeface="Calibri"/>
              </a:rPr>
              <a:t>, “Deep-learning-based aerial image classification for emergency response applications using unmanned aerial vehicles,” in Proc. IEEE/CVF Conf. Computer Vision and Pattern Recognition Workshops (CVPRW), 2020, pp. 517–525.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300"/>
              </a:spcAft>
            </a:pPr>
            <a:r>
              <a:rPr b="1" dirty="0">
                <a:solidFill>
                  <a:srgbClr val="4D5728"/>
                </a:solidFill>
                <a:latin typeface="Calibri"/>
              </a:rPr>
              <a:t>[10]  </a:t>
            </a:r>
            <a:r>
              <a:rPr b="0" dirty="0">
                <a:solidFill>
                  <a:srgbClr val="1A1A1A"/>
                </a:solidFill>
                <a:latin typeface="Calibri"/>
              </a:rPr>
              <a:t>I. Hassan et al., “Aerial flood scene classification using fine-tuned attention-based architecture for flood-prone countries in South Asia,”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arXiv</a:t>
            </a:r>
            <a:r>
              <a:rPr b="0" dirty="0">
                <a:solidFill>
                  <a:srgbClr val="1A1A1A"/>
                </a:solidFill>
                <a:latin typeface="Calibri"/>
              </a:rPr>
              <a:t> preprint arXiv:2411.00169, 2024.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300"/>
              </a:spcAft>
            </a:pPr>
            <a:r>
              <a:rPr b="1" dirty="0">
                <a:solidFill>
                  <a:srgbClr val="4D5728"/>
                </a:solidFill>
                <a:latin typeface="Calibri"/>
              </a:rPr>
              <a:t>[11]  </a:t>
            </a:r>
            <a:r>
              <a:rPr b="0" dirty="0">
                <a:solidFill>
                  <a:srgbClr val="1A1A1A"/>
                </a:solidFill>
                <a:latin typeface="Calibri"/>
              </a:rPr>
              <a:t>P. Zhu, L. Wen, D. Du, X. Bian, H. Fan, Q. Hu, and H. Ling, “Detection and tracking meet drones challenge,” IEEE Transactions on Pattern Analysis and Machine Intelligence, vol. 44, no. 11, pp. 7380–7399, 2021.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300"/>
              </a:spcAft>
            </a:pPr>
            <a:r>
              <a:rPr b="1" dirty="0">
                <a:solidFill>
                  <a:srgbClr val="4D5728"/>
                </a:solidFill>
                <a:latin typeface="Calibri"/>
              </a:rPr>
              <a:t>[12]  </a:t>
            </a:r>
            <a:r>
              <a:rPr b="0" dirty="0">
                <a:solidFill>
                  <a:srgbClr val="1A1A1A"/>
                </a:solidFill>
                <a:latin typeface="Calibri"/>
              </a:rPr>
              <a:t>O.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Ronneberger</a:t>
            </a:r>
            <a:r>
              <a:rPr b="0" dirty="0">
                <a:solidFill>
                  <a:srgbClr val="1A1A1A"/>
                </a:solidFill>
                <a:latin typeface="Calibri"/>
              </a:rPr>
              <a:t>, P. Fischer, and T. Brox, “U-Net: Convolutional networks for biomedical image segmentation,” in Proc. Int. Conf. Medical Image Computing and Computer-Assisted Intervention (MICCAI), 2015, pp. 234–241.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300"/>
              </a:spcAft>
            </a:pPr>
            <a:r>
              <a:rPr b="1" dirty="0">
                <a:solidFill>
                  <a:srgbClr val="4D5728"/>
                </a:solidFill>
                <a:latin typeface="Calibri"/>
              </a:rPr>
              <a:t>[13]  </a:t>
            </a:r>
            <a:r>
              <a:rPr b="0" dirty="0">
                <a:solidFill>
                  <a:srgbClr val="1A1A1A"/>
                </a:solidFill>
                <a:latin typeface="Calibri"/>
              </a:rPr>
              <a:t>G.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Jocher</a:t>
            </a:r>
            <a:r>
              <a:rPr b="0" dirty="0">
                <a:solidFill>
                  <a:srgbClr val="1A1A1A"/>
                </a:solidFill>
                <a:latin typeface="Calibri"/>
              </a:rPr>
              <a:t>, A. Chaurasia, and J. Qiu, “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Ultralytics</a:t>
            </a:r>
            <a:r>
              <a:rPr b="0" dirty="0">
                <a:solidFill>
                  <a:srgbClr val="1A1A1A"/>
                </a:solidFill>
                <a:latin typeface="Calibri"/>
              </a:rPr>
              <a:t> YOLOv8,” 2023. [Online]. Available: https://github.com/ultralytics/ultralytics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300"/>
              </a:spcAft>
            </a:pPr>
            <a:r>
              <a:rPr b="1" dirty="0">
                <a:solidFill>
                  <a:srgbClr val="4D5728"/>
                </a:solidFill>
                <a:latin typeface="Calibri"/>
              </a:rPr>
              <a:t>[14]  </a:t>
            </a:r>
            <a:r>
              <a:rPr b="0" dirty="0">
                <a:solidFill>
                  <a:srgbClr val="1A1A1A"/>
                </a:solidFill>
                <a:latin typeface="Calibri"/>
              </a:rPr>
              <a:t>N.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Wojke</a:t>
            </a:r>
            <a:r>
              <a:rPr b="0" dirty="0">
                <a:solidFill>
                  <a:srgbClr val="1A1A1A"/>
                </a:solidFill>
                <a:latin typeface="Calibri"/>
              </a:rPr>
              <a:t>, A. Bewley, and D. Paulus, “Simple online and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realtime</a:t>
            </a:r>
            <a:r>
              <a:rPr b="0" dirty="0">
                <a:solidFill>
                  <a:srgbClr val="1A1A1A"/>
                </a:solidFill>
                <a:latin typeface="Calibri"/>
              </a:rPr>
              <a:t> tracking with a deep association metric,” in Proc. IEEE Int. Conf. Image Processing (ICIP), 2017, pp. 3645–3649.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88920"/>
            <a:ext cx="11277295" cy="128016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4D5728"/>
                </a:solidFill>
                <a:latin typeface="Century Gothic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24528"/>
            <a:ext cx="11277295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Group No 7   ·   Prem Baba  ·  Purva Bhoyar  ·  Adhishree Shiledar  ·  Palak Zade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2812</Words>
  <Application>Microsoft Office PowerPoint</Application>
  <PresentationFormat>Widescreen</PresentationFormat>
  <Paragraphs>230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Prem</dc:creator>
  <cp:keywords/>
  <dc:description>generated using python-pptx</dc:description>
  <cp:lastModifiedBy>Prem Baba</cp:lastModifiedBy>
  <cp:revision>3</cp:revision>
  <dcterms:created xsi:type="dcterms:W3CDTF">2013-01-27T09:14:16Z</dcterms:created>
  <dcterms:modified xsi:type="dcterms:W3CDTF">2026-08-22T07:38:30Z</dcterms:modified>
  <cp:category/>
</cp:coreProperties>
</file>